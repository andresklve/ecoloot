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Lazydog" charset="1" panose="00000000000000000000"/>
      <p:regular r:id="rId14"/>
    </p:embeddedFont>
    <p:embeddedFont>
      <p:font typeface="Glacial Indifference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7.png" Type="http://schemas.openxmlformats.org/officeDocument/2006/relationships/image"/><Relationship Id="rId13" Target="../media/image18.png" Type="http://schemas.openxmlformats.org/officeDocument/2006/relationships/image"/><Relationship Id="rId14" Target="../media/image1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20.png" Type="http://schemas.openxmlformats.org/officeDocument/2006/relationships/image"/><Relationship Id="rId13" Target="../media/image18.png" Type="http://schemas.openxmlformats.org/officeDocument/2006/relationships/image"/><Relationship Id="rId14" Target="../media/image1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21.png" Type="http://schemas.openxmlformats.org/officeDocument/2006/relationships/image"/><Relationship Id="rId13" Target="../media/image18.png" Type="http://schemas.openxmlformats.org/officeDocument/2006/relationships/image"/><Relationship Id="rId14" Target="../media/image1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D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06543" y="-397854"/>
            <a:ext cx="4360578" cy="4114800"/>
          </a:xfrm>
          <a:custGeom>
            <a:avLst/>
            <a:gdLst/>
            <a:ahLst/>
            <a:cxnLst/>
            <a:rect r="r" b="b" t="t" l="l"/>
            <a:pathLst>
              <a:path h="4114800" w="4360578">
                <a:moveTo>
                  <a:pt x="0" y="0"/>
                </a:moveTo>
                <a:lnTo>
                  <a:pt x="4360578" y="0"/>
                </a:lnTo>
                <a:lnTo>
                  <a:pt x="43605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659925">
            <a:off x="14627618" y="-1060017"/>
            <a:ext cx="4745480" cy="4114800"/>
          </a:xfrm>
          <a:custGeom>
            <a:avLst/>
            <a:gdLst/>
            <a:ahLst/>
            <a:cxnLst/>
            <a:rect r="r" b="b" t="t" l="l"/>
            <a:pathLst>
              <a:path h="4114800" w="4745480">
                <a:moveTo>
                  <a:pt x="0" y="0"/>
                </a:moveTo>
                <a:lnTo>
                  <a:pt x="4745479" y="0"/>
                </a:lnTo>
                <a:lnTo>
                  <a:pt x="47454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400000">
            <a:off x="4316370" y="-2211614"/>
            <a:ext cx="9655259" cy="14710229"/>
          </a:xfrm>
          <a:custGeom>
            <a:avLst/>
            <a:gdLst/>
            <a:ahLst/>
            <a:cxnLst/>
            <a:rect r="r" b="b" t="t" l="l"/>
            <a:pathLst>
              <a:path h="14710229" w="9655259">
                <a:moveTo>
                  <a:pt x="9655260" y="0"/>
                </a:moveTo>
                <a:lnTo>
                  <a:pt x="0" y="0"/>
                </a:lnTo>
                <a:lnTo>
                  <a:pt x="0" y="14710228"/>
                </a:lnTo>
                <a:lnTo>
                  <a:pt x="9655260" y="14710228"/>
                </a:lnTo>
                <a:lnTo>
                  <a:pt x="965526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34648" y="2819992"/>
            <a:ext cx="1264466" cy="1403014"/>
          </a:xfrm>
          <a:custGeom>
            <a:avLst/>
            <a:gdLst/>
            <a:ahLst/>
            <a:cxnLst/>
            <a:rect r="r" b="b" t="t" l="l"/>
            <a:pathLst>
              <a:path h="1403014" w="1264466">
                <a:moveTo>
                  <a:pt x="0" y="0"/>
                </a:moveTo>
                <a:lnTo>
                  <a:pt x="1264466" y="0"/>
                </a:lnTo>
                <a:lnTo>
                  <a:pt x="1264466" y="1403014"/>
                </a:lnTo>
                <a:lnTo>
                  <a:pt x="0" y="14030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2121802" y="4540557"/>
            <a:ext cx="1264466" cy="1403014"/>
          </a:xfrm>
          <a:custGeom>
            <a:avLst/>
            <a:gdLst/>
            <a:ahLst/>
            <a:cxnLst/>
            <a:rect r="r" b="b" t="t" l="l"/>
            <a:pathLst>
              <a:path h="1403014" w="1264466">
                <a:moveTo>
                  <a:pt x="0" y="0"/>
                </a:moveTo>
                <a:lnTo>
                  <a:pt x="1264466" y="0"/>
                </a:lnTo>
                <a:lnTo>
                  <a:pt x="1264466" y="1403014"/>
                </a:lnTo>
                <a:lnTo>
                  <a:pt x="0" y="14030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813874" y="6172200"/>
            <a:ext cx="3492436" cy="4114800"/>
          </a:xfrm>
          <a:custGeom>
            <a:avLst/>
            <a:gdLst/>
            <a:ahLst/>
            <a:cxnLst/>
            <a:rect r="r" b="b" t="t" l="l"/>
            <a:pathLst>
              <a:path h="4114800" w="3492436">
                <a:moveTo>
                  <a:pt x="0" y="0"/>
                </a:moveTo>
                <a:lnTo>
                  <a:pt x="3492436" y="0"/>
                </a:lnTo>
                <a:lnTo>
                  <a:pt x="349243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612816">
            <a:off x="-302998" y="6367592"/>
            <a:ext cx="1144663" cy="4114800"/>
          </a:xfrm>
          <a:custGeom>
            <a:avLst/>
            <a:gdLst/>
            <a:ahLst/>
            <a:cxnLst/>
            <a:rect r="r" b="b" t="t" l="l"/>
            <a:pathLst>
              <a:path h="4114800" w="1144663">
                <a:moveTo>
                  <a:pt x="0" y="0"/>
                </a:moveTo>
                <a:lnTo>
                  <a:pt x="1144663" y="0"/>
                </a:lnTo>
                <a:lnTo>
                  <a:pt x="114466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509237" y="3564527"/>
            <a:ext cx="13646171" cy="157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AF805A"/>
                </a:solidFill>
                <a:latin typeface="Lazydog"/>
                <a:ea typeface="Lazydog"/>
                <a:cs typeface="Lazydog"/>
                <a:sym typeface="Lazydog"/>
              </a:rPr>
              <a:t>Usabilidad del caso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476533" y="5442873"/>
            <a:ext cx="9334934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2A1B1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Presentado por: Equipo 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D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06543" y="-397854"/>
            <a:ext cx="4360578" cy="4114800"/>
          </a:xfrm>
          <a:custGeom>
            <a:avLst/>
            <a:gdLst/>
            <a:ahLst/>
            <a:cxnLst/>
            <a:rect r="r" b="b" t="t" l="l"/>
            <a:pathLst>
              <a:path h="4114800" w="4360578">
                <a:moveTo>
                  <a:pt x="0" y="0"/>
                </a:moveTo>
                <a:lnTo>
                  <a:pt x="4360578" y="0"/>
                </a:lnTo>
                <a:lnTo>
                  <a:pt x="43605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659925">
            <a:off x="14627618" y="-1060017"/>
            <a:ext cx="4745480" cy="4114800"/>
          </a:xfrm>
          <a:custGeom>
            <a:avLst/>
            <a:gdLst/>
            <a:ahLst/>
            <a:cxnLst/>
            <a:rect r="r" b="b" t="t" l="l"/>
            <a:pathLst>
              <a:path h="4114800" w="4745480">
                <a:moveTo>
                  <a:pt x="0" y="0"/>
                </a:moveTo>
                <a:lnTo>
                  <a:pt x="4745479" y="0"/>
                </a:lnTo>
                <a:lnTo>
                  <a:pt x="47454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400000">
            <a:off x="4316370" y="-2211614"/>
            <a:ext cx="9655259" cy="14710229"/>
          </a:xfrm>
          <a:custGeom>
            <a:avLst/>
            <a:gdLst/>
            <a:ahLst/>
            <a:cxnLst/>
            <a:rect r="r" b="b" t="t" l="l"/>
            <a:pathLst>
              <a:path h="14710229" w="9655259">
                <a:moveTo>
                  <a:pt x="9655260" y="0"/>
                </a:moveTo>
                <a:lnTo>
                  <a:pt x="0" y="0"/>
                </a:lnTo>
                <a:lnTo>
                  <a:pt x="0" y="14710228"/>
                </a:lnTo>
                <a:lnTo>
                  <a:pt x="9655260" y="14710228"/>
                </a:lnTo>
                <a:lnTo>
                  <a:pt x="965526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34648" y="2819992"/>
            <a:ext cx="1264466" cy="1403014"/>
          </a:xfrm>
          <a:custGeom>
            <a:avLst/>
            <a:gdLst/>
            <a:ahLst/>
            <a:cxnLst/>
            <a:rect r="r" b="b" t="t" l="l"/>
            <a:pathLst>
              <a:path h="1403014" w="1264466">
                <a:moveTo>
                  <a:pt x="0" y="0"/>
                </a:moveTo>
                <a:lnTo>
                  <a:pt x="1264466" y="0"/>
                </a:lnTo>
                <a:lnTo>
                  <a:pt x="1264466" y="1403014"/>
                </a:lnTo>
                <a:lnTo>
                  <a:pt x="0" y="14030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2121802" y="4540557"/>
            <a:ext cx="1264466" cy="1403014"/>
          </a:xfrm>
          <a:custGeom>
            <a:avLst/>
            <a:gdLst/>
            <a:ahLst/>
            <a:cxnLst/>
            <a:rect r="r" b="b" t="t" l="l"/>
            <a:pathLst>
              <a:path h="1403014" w="1264466">
                <a:moveTo>
                  <a:pt x="0" y="0"/>
                </a:moveTo>
                <a:lnTo>
                  <a:pt x="1264466" y="0"/>
                </a:lnTo>
                <a:lnTo>
                  <a:pt x="1264466" y="1403014"/>
                </a:lnTo>
                <a:lnTo>
                  <a:pt x="0" y="14030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813874" y="6172200"/>
            <a:ext cx="3492436" cy="4114800"/>
          </a:xfrm>
          <a:custGeom>
            <a:avLst/>
            <a:gdLst/>
            <a:ahLst/>
            <a:cxnLst/>
            <a:rect r="r" b="b" t="t" l="l"/>
            <a:pathLst>
              <a:path h="4114800" w="3492436">
                <a:moveTo>
                  <a:pt x="0" y="0"/>
                </a:moveTo>
                <a:lnTo>
                  <a:pt x="3492436" y="0"/>
                </a:lnTo>
                <a:lnTo>
                  <a:pt x="349243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612816">
            <a:off x="-302998" y="6367592"/>
            <a:ext cx="1144663" cy="4114800"/>
          </a:xfrm>
          <a:custGeom>
            <a:avLst/>
            <a:gdLst/>
            <a:ahLst/>
            <a:cxnLst/>
            <a:rect r="r" b="b" t="t" l="l"/>
            <a:pathLst>
              <a:path h="4114800" w="1144663">
                <a:moveTo>
                  <a:pt x="0" y="0"/>
                </a:moveTo>
                <a:lnTo>
                  <a:pt x="1144663" y="0"/>
                </a:lnTo>
                <a:lnTo>
                  <a:pt x="114466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20915" y="1478571"/>
            <a:ext cx="13646171" cy="157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AF805A"/>
                </a:solidFill>
                <a:latin typeface="Lazydog"/>
                <a:ea typeface="Lazydog"/>
                <a:cs typeface="Lazydog"/>
                <a:sym typeface="Lazydog"/>
              </a:rPr>
              <a:t>Integrantes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404969" y="4317214"/>
            <a:ext cx="10493196" cy="465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62"/>
              </a:lnSpc>
            </a:pPr>
            <a:r>
              <a:rPr lang="en-US" sz="3687">
                <a:solidFill>
                  <a:srgbClr val="2A1B1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Espiritu Tolentino, Luis Angel </a:t>
            </a:r>
            <a:r>
              <a:rPr lang="en-US" sz="3687">
                <a:solidFill>
                  <a:srgbClr val="2A1B1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U20211C368</a:t>
            </a:r>
          </a:p>
          <a:p>
            <a:pPr algn="l">
              <a:lnSpc>
                <a:spcPts val="5162"/>
              </a:lnSpc>
            </a:pPr>
            <a:r>
              <a:rPr lang="en-US" sz="3687">
                <a:solidFill>
                  <a:srgbClr val="2A1B1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Félix Monzón, Orlando U202410507</a:t>
            </a:r>
          </a:p>
          <a:p>
            <a:pPr algn="l">
              <a:lnSpc>
                <a:spcPts val="5162"/>
              </a:lnSpc>
            </a:pPr>
            <a:r>
              <a:rPr lang="en-US" sz="3687">
                <a:solidFill>
                  <a:srgbClr val="2A1B1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Infantas Galindo, Carlos Andres U202320371</a:t>
            </a:r>
          </a:p>
          <a:p>
            <a:pPr algn="l">
              <a:lnSpc>
                <a:spcPts val="5162"/>
              </a:lnSpc>
            </a:pPr>
            <a:r>
              <a:rPr lang="en-US" sz="3687">
                <a:solidFill>
                  <a:srgbClr val="2A1B1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Macedo De La Cruz, Duzka Materlin U202418139</a:t>
            </a:r>
          </a:p>
          <a:p>
            <a:pPr algn="l">
              <a:lnSpc>
                <a:spcPts val="5162"/>
              </a:lnSpc>
            </a:pPr>
            <a:r>
              <a:rPr lang="en-US" sz="3687">
                <a:solidFill>
                  <a:srgbClr val="2A1B1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Morales Espinoza, Bertha María Ladis U202423155</a:t>
            </a:r>
          </a:p>
          <a:p>
            <a:pPr algn="l">
              <a:lnSpc>
                <a:spcPts val="5162"/>
              </a:lnSpc>
            </a:pPr>
            <a:r>
              <a:rPr lang="en-US" sz="3687">
                <a:solidFill>
                  <a:srgbClr val="2A1B1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Peralta Marquina, Mathias Fabian U20241D651</a:t>
            </a:r>
          </a:p>
          <a:p>
            <a:pPr algn="ctr">
              <a:lnSpc>
                <a:spcPts val="5965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D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06543" y="-397854"/>
            <a:ext cx="4360578" cy="4114800"/>
          </a:xfrm>
          <a:custGeom>
            <a:avLst/>
            <a:gdLst/>
            <a:ahLst/>
            <a:cxnLst/>
            <a:rect r="r" b="b" t="t" l="l"/>
            <a:pathLst>
              <a:path h="4114800" w="4360578">
                <a:moveTo>
                  <a:pt x="0" y="0"/>
                </a:moveTo>
                <a:lnTo>
                  <a:pt x="4360578" y="0"/>
                </a:lnTo>
                <a:lnTo>
                  <a:pt x="43605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659925">
            <a:off x="14627618" y="-1060017"/>
            <a:ext cx="4745480" cy="4114800"/>
          </a:xfrm>
          <a:custGeom>
            <a:avLst/>
            <a:gdLst/>
            <a:ahLst/>
            <a:cxnLst/>
            <a:rect r="r" b="b" t="t" l="l"/>
            <a:pathLst>
              <a:path h="4114800" w="4745480">
                <a:moveTo>
                  <a:pt x="0" y="0"/>
                </a:moveTo>
                <a:lnTo>
                  <a:pt x="4745479" y="0"/>
                </a:lnTo>
                <a:lnTo>
                  <a:pt x="47454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400000">
            <a:off x="4316370" y="-2211614"/>
            <a:ext cx="9655259" cy="14710229"/>
          </a:xfrm>
          <a:custGeom>
            <a:avLst/>
            <a:gdLst/>
            <a:ahLst/>
            <a:cxnLst/>
            <a:rect r="r" b="b" t="t" l="l"/>
            <a:pathLst>
              <a:path h="14710229" w="9655259">
                <a:moveTo>
                  <a:pt x="9655260" y="0"/>
                </a:moveTo>
                <a:lnTo>
                  <a:pt x="0" y="0"/>
                </a:lnTo>
                <a:lnTo>
                  <a:pt x="0" y="14710228"/>
                </a:lnTo>
                <a:lnTo>
                  <a:pt x="9655260" y="14710228"/>
                </a:lnTo>
                <a:lnTo>
                  <a:pt x="965526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13874" y="6172200"/>
            <a:ext cx="3492436" cy="4114800"/>
          </a:xfrm>
          <a:custGeom>
            <a:avLst/>
            <a:gdLst/>
            <a:ahLst/>
            <a:cxnLst/>
            <a:rect r="r" b="b" t="t" l="l"/>
            <a:pathLst>
              <a:path h="4114800" w="3492436">
                <a:moveTo>
                  <a:pt x="0" y="0"/>
                </a:moveTo>
                <a:lnTo>
                  <a:pt x="3492436" y="0"/>
                </a:lnTo>
                <a:lnTo>
                  <a:pt x="349243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612816">
            <a:off x="-302998" y="6367592"/>
            <a:ext cx="1144663" cy="4114800"/>
          </a:xfrm>
          <a:custGeom>
            <a:avLst/>
            <a:gdLst/>
            <a:ahLst/>
            <a:cxnLst/>
            <a:rect r="r" b="b" t="t" l="l"/>
            <a:pathLst>
              <a:path h="4114800" w="1144663">
                <a:moveTo>
                  <a:pt x="0" y="0"/>
                </a:moveTo>
                <a:lnTo>
                  <a:pt x="1144663" y="0"/>
                </a:lnTo>
                <a:lnTo>
                  <a:pt x="114466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818640" y="741757"/>
            <a:ext cx="8650721" cy="2270814"/>
          </a:xfrm>
          <a:custGeom>
            <a:avLst/>
            <a:gdLst/>
            <a:ahLst/>
            <a:cxnLst/>
            <a:rect r="r" b="b" t="t" l="l"/>
            <a:pathLst>
              <a:path h="2270814" w="8650721">
                <a:moveTo>
                  <a:pt x="0" y="0"/>
                </a:moveTo>
                <a:lnTo>
                  <a:pt x="8650720" y="0"/>
                </a:lnTo>
                <a:lnTo>
                  <a:pt x="8650720" y="2270814"/>
                </a:lnTo>
                <a:lnTo>
                  <a:pt x="0" y="22708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6196965" y="-716988"/>
            <a:ext cx="5761866" cy="13778375"/>
          </a:xfrm>
          <a:custGeom>
            <a:avLst/>
            <a:gdLst/>
            <a:ahLst/>
            <a:cxnLst/>
            <a:rect r="r" b="b" t="t" l="l"/>
            <a:pathLst>
              <a:path h="13778375" w="5761866">
                <a:moveTo>
                  <a:pt x="0" y="0"/>
                </a:moveTo>
                <a:lnTo>
                  <a:pt x="5761866" y="0"/>
                </a:lnTo>
                <a:lnTo>
                  <a:pt x="5761866" y="13778376"/>
                </a:lnTo>
                <a:lnTo>
                  <a:pt x="0" y="1377837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70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20915" y="1036742"/>
            <a:ext cx="13646171" cy="2512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>
                <a:solidFill>
                  <a:srgbClr val="AF805A"/>
                </a:solidFill>
                <a:latin typeface="Lazydog"/>
                <a:ea typeface="Lazydog"/>
                <a:cs typeface="Lazydog"/>
                <a:sym typeface="Lazydog"/>
              </a:rPr>
              <a:t>Aspectos </a:t>
            </a:r>
          </a:p>
          <a:p>
            <a:pPr algn="ctr">
              <a:lnSpc>
                <a:spcPts val="10080"/>
              </a:lnSpc>
            </a:pPr>
            <a:r>
              <a:rPr lang="en-US" sz="7200">
                <a:solidFill>
                  <a:srgbClr val="AF805A"/>
                </a:solidFill>
                <a:latin typeface="Lazydog"/>
                <a:ea typeface="Lazydog"/>
                <a:cs typeface="Lazydog"/>
                <a:sym typeface="Lazydog"/>
              </a:rPr>
              <a:t>a Mejorar: FrontEnd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37360" y="3501812"/>
            <a:ext cx="9681076" cy="519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AF805A"/>
                </a:solidFill>
                <a:latin typeface="Lazydog"/>
                <a:ea typeface="Lazydog"/>
                <a:cs typeface="Lazydog"/>
                <a:sym typeface="Lazydog"/>
              </a:rPr>
              <a:t>1. Mejorar la paleta de colores a conveniencia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AF805A"/>
                </a:solidFill>
                <a:latin typeface="Lazydog"/>
                <a:ea typeface="Lazydog"/>
                <a:cs typeface="Lazydog"/>
                <a:sym typeface="Lazydog"/>
              </a:rPr>
              <a:t>Rediseño con tonos institucionales más modernos.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AF805A"/>
                </a:solidFill>
                <a:latin typeface="Lazydog"/>
                <a:ea typeface="Lazydog"/>
                <a:cs typeface="Lazydog"/>
                <a:sym typeface="Lazydog"/>
              </a:rPr>
              <a:t>Mejora del contraste para asegurar la accesibilidad.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AF805A"/>
                </a:solidFill>
                <a:latin typeface="Lazydog"/>
                <a:ea typeface="Lazydog"/>
                <a:cs typeface="Lazydog"/>
                <a:sym typeface="Lazydog"/>
              </a:rPr>
              <a:t>Ap</a:t>
            </a:r>
            <a:r>
              <a:rPr lang="en-US" sz="2100">
                <a:solidFill>
                  <a:srgbClr val="AF805A"/>
                </a:solidFill>
                <a:latin typeface="Lazydog"/>
                <a:ea typeface="Lazydog"/>
                <a:cs typeface="Lazydog"/>
                <a:sym typeface="Lazydog"/>
              </a:rPr>
              <a:t>licación consistente en componentes (botones, menús y alertas).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AF805A"/>
                </a:solidFill>
                <a:latin typeface="Lazydog"/>
                <a:ea typeface="Lazydog"/>
                <a:cs typeface="Lazydog"/>
                <a:sym typeface="Lazydog"/>
              </a:rPr>
              <a:t>2. Actualización tipográfica: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AF805A"/>
                </a:solidFill>
                <a:latin typeface="Lazydog"/>
                <a:ea typeface="Lazydog"/>
                <a:cs typeface="Lazydog"/>
                <a:sym typeface="Lazydog"/>
              </a:rPr>
              <a:t>Ree</a:t>
            </a:r>
            <a:r>
              <a:rPr lang="en-US" sz="2100">
                <a:solidFill>
                  <a:srgbClr val="AF805A"/>
                </a:solidFill>
                <a:latin typeface="Lazydog"/>
                <a:ea typeface="Lazydog"/>
                <a:cs typeface="Lazydog"/>
                <a:sym typeface="Lazydog"/>
              </a:rPr>
              <a:t>mplazo por una fuente más moderna y de alta legibilidad.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AF805A"/>
                </a:solidFill>
                <a:latin typeface="Lazydog"/>
                <a:ea typeface="Lazydog"/>
                <a:cs typeface="Lazydog"/>
                <a:sym typeface="Lazydog"/>
              </a:rPr>
              <a:t>Opcion</a:t>
            </a:r>
            <a:r>
              <a:rPr lang="en-US" sz="2100">
                <a:solidFill>
                  <a:srgbClr val="AF805A"/>
                </a:solidFill>
                <a:latin typeface="Lazydog"/>
                <a:ea typeface="Lazydog"/>
                <a:cs typeface="Lazydog"/>
                <a:sym typeface="Lazydog"/>
              </a:rPr>
              <a:t>es sugeridas para el cambio: Inter, Roboto u Open Sans.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AF805A"/>
                </a:solidFill>
                <a:latin typeface="Lazydog"/>
                <a:ea typeface="Lazydog"/>
                <a:cs typeface="Lazydog"/>
                <a:sym typeface="Lazydog"/>
              </a:rPr>
              <a:t>3. </a:t>
            </a:r>
            <a:r>
              <a:rPr lang="en-US" sz="2100">
                <a:solidFill>
                  <a:srgbClr val="AF805A"/>
                </a:solidFill>
                <a:latin typeface="Lazydog"/>
                <a:ea typeface="Lazydog"/>
                <a:cs typeface="Lazydog"/>
                <a:sym typeface="Lazydog"/>
              </a:rPr>
              <a:t>Acceso rápido a contactos clave: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AF805A"/>
                </a:solidFill>
                <a:latin typeface="Lazydog"/>
                <a:ea typeface="Lazydog"/>
                <a:cs typeface="Lazydog"/>
                <a:sym typeface="Lazydog"/>
              </a:rPr>
              <a:t>Vi</a:t>
            </a:r>
            <a:r>
              <a:rPr lang="en-US" sz="2100">
                <a:solidFill>
                  <a:srgbClr val="AF805A"/>
                </a:solidFill>
                <a:latin typeface="Lazydog"/>
                <a:ea typeface="Lazydog"/>
                <a:cs typeface="Lazydog"/>
                <a:sym typeface="Lazydog"/>
              </a:rPr>
              <a:t>sibilidad de teléfonos principales en el encabezado (header) y Rediseño del pie de página (footer).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AF805A"/>
                </a:solidFill>
                <a:latin typeface="Lazydog"/>
                <a:ea typeface="Lazydog"/>
                <a:cs typeface="Lazydog"/>
                <a:sym typeface="Lazydog"/>
              </a:rPr>
              <a:t>Creación de botones de acción rápida (Serenazgo, Emergencias, Atención al vecino, Central telefónica</a:t>
            </a:r>
          </a:p>
          <a:p>
            <a:pPr algn="l">
              <a:lnSpc>
                <a:spcPts val="294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D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06543" y="-397854"/>
            <a:ext cx="4360578" cy="4114800"/>
          </a:xfrm>
          <a:custGeom>
            <a:avLst/>
            <a:gdLst/>
            <a:ahLst/>
            <a:cxnLst/>
            <a:rect r="r" b="b" t="t" l="l"/>
            <a:pathLst>
              <a:path h="4114800" w="4360578">
                <a:moveTo>
                  <a:pt x="0" y="0"/>
                </a:moveTo>
                <a:lnTo>
                  <a:pt x="4360578" y="0"/>
                </a:lnTo>
                <a:lnTo>
                  <a:pt x="43605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659925">
            <a:off x="14627618" y="-1060017"/>
            <a:ext cx="4745480" cy="4114800"/>
          </a:xfrm>
          <a:custGeom>
            <a:avLst/>
            <a:gdLst/>
            <a:ahLst/>
            <a:cxnLst/>
            <a:rect r="r" b="b" t="t" l="l"/>
            <a:pathLst>
              <a:path h="4114800" w="4745480">
                <a:moveTo>
                  <a:pt x="0" y="0"/>
                </a:moveTo>
                <a:lnTo>
                  <a:pt x="4745479" y="0"/>
                </a:lnTo>
                <a:lnTo>
                  <a:pt x="47454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400000">
            <a:off x="4316370" y="-2211614"/>
            <a:ext cx="9655259" cy="14710229"/>
          </a:xfrm>
          <a:custGeom>
            <a:avLst/>
            <a:gdLst/>
            <a:ahLst/>
            <a:cxnLst/>
            <a:rect r="r" b="b" t="t" l="l"/>
            <a:pathLst>
              <a:path h="14710229" w="9655259">
                <a:moveTo>
                  <a:pt x="9655260" y="0"/>
                </a:moveTo>
                <a:lnTo>
                  <a:pt x="0" y="0"/>
                </a:lnTo>
                <a:lnTo>
                  <a:pt x="0" y="14710228"/>
                </a:lnTo>
                <a:lnTo>
                  <a:pt x="9655260" y="14710228"/>
                </a:lnTo>
                <a:lnTo>
                  <a:pt x="965526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13874" y="6172200"/>
            <a:ext cx="3492436" cy="4114800"/>
          </a:xfrm>
          <a:custGeom>
            <a:avLst/>
            <a:gdLst/>
            <a:ahLst/>
            <a:cxnLst/>
            <a:rect r="r" b="b" t="t" l="l"/>
            <a:pathLst>
              <a:path h="4114800" w="3492436">
                <a:moveTo>
                  <a:pt x="0" y="0"/>
                </a:moveTo>
                <a:lnTo>
                  <a:pt x="3492436" y="0"/>
                </a:lnTo>
                <a:lnTo>
                  <a:pt x="349243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612816">
            <a:off x="-302998" y="6367592"/>
            <a:ext cx="1144663" cy="4114800"/>
          </a:xfrm>
          <a:custGeom>
            <a:avLst/>
            <a:gdLst/>
            <a:ahLst/>
            <a:cxnLst/>
            <a:rect r="r" b="b" t="t" l="l"/>
            <a:pathLst>
              <a:path h="4114800" w="1144663">
                <a:moveTo>
                  <a:pt x="0" y="0"/>
                </a:moveTo>
                <a:lnTo>
                  <a:pt x="1144663" y="0"/>
                </a:lnTo>
                <a:lnTo>
                  <a:pt x="114466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818640" y="741757"/>
            <a:ext cx="8650721" cy="2270814"/>
          </a:xfrm>
          <a:custGeom>
            <a:avLst/>
            <a:gdLst/>
            <a:ahLst/>
            <a:cxnLst/>
            <a:rect r="r" b="b" t="t" l="l"/>
            <a:pathLst>
              <a:path h="2270814" w="8650721">
                <a:moveTo>
                  <a:pt x="0" y="0"/>
                </a:moveTo>
                <a:lnTo>
                  <a:pt x="8650720" y="0"/>
                </a:lnTo>
                <a:lnTo>
                  <a:pt x="8650720" y="2270814"/>
                </a:lnTo>
                <a:lnTo>
                  <a:pt x="0" y="22708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6196965" y="-716988"/>
            <a:ext cx="5761866" cy="13778375"/>
          </a:xfrm>
          <a:custGeom>
            <a:avLst/>
            <a:gdLst/>
            <a:ahLst/>
            <a:cxnLst/>
            <a:rect r="r" b="b" t="t" l="l"/>
            <a:pathLst>
              <a:path h="13778375" w="5761866">
                <a:moveTo>
                  <a:pt x="0" y="0"/>
                </a:moveTo>
                <a:lnTo>
                  <a:pt x="5761866" y="0"/>
                </a:lnTo>
                <a:lnTo>
                  <a:pt x="5761866" y="13778376"/>
                </a:lnTo>
                <a:lnTo>
                  <a:pt x="0" y="1377837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70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20915" y="1036742"/>
            <a:ext cx="13646171" cy="2512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>
                <a:solidFill>
                  <a:srgbClr val="AF805A"/>
                </a:solidFill>
                <a:latin typeface="Lazydog"/>
                <a:ea typeface="Lazydog"/>
                <a:cs typeface="Lazydog"/>
                <a:sym typeface="Lazydog"/>
              </a:rPr>
              <a:t>Aspectos </a:t>
            </a:r>
          </a:p>
          <a:p>
            <a:pPr algn="ctr">
              <a:lnSpc>
                <a:spcPts val="10080"/>
              </a:lnSpc>
            </a:pPr>
            <a:r>
              <a:rPr lang="en-US" sz="7200">
                <a:solidFill>
                  <a:srgbClr val="AF805A"/>
                </a:solidFill>
                <a:latin typeface="Lazydog"/>
                <a:ea typeface="Lazydog"/>
                <a:cs typeface="Lazydog"/>
                <a:sym typeface="Lazydog"/>
              </a:rPr>
              <a:t>a Mejorar: BACKEnd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98812" y="3678846"/>
            <a:ext cx="8980289" cy="5927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89"/>
              </a:lnSpc>
            </a:pPr>
            <a:r>
              <a:rPr lang="en-US" sz="2135">
                <a:solidFill>
                  <a:srgbClr val="AF805A"/>
                </a:solidFill>
                <a:latin typeface="Lazydog"/>
                <a:ea typeface="Lazydog"/>
                <a:cs typeface="Lazydog"/>
                <a:sym typeface="Lazydog"/>
              </a:rPr>
              <a:t>1. Chatbot para consultas </a:t>
            </a:r>
            <a:r>
              <a:rPr lang="en-US" sz="2135">
                <a:solidFill>
                  <a:srgbClr val="AF805A"/>
                </a:solidFill>
                <a:latin typeface="Lazydog"/>
                <a:ea typeface="Lazydog"/>
                <a:cs typeface="Lazydog"/>
                <a:sym typeface="Lazydog"/>
              </a:rPr>
              <a:t>generales</a:t>
            </a:r>
          </a:p>
          <a:p>
            <a:pPr algn="just" marL="461080" indent="-230540" lvl="1">
              <a:lnSpc>
                <a:spcPts val="2989"/>
              </a:lnSpc>
              <a:buFont typeface="Arial"/>
              <a:buChar char="•"/>
            </a:pPr>
            <a:r>
              <a:rPr lang="en-US" sz="2135">
                <a:solidFill>
                  <a:srgbClr val="AF805A"/>
                </a:solidFill>
                <a:latin typeface="Lazydog"/>
                <a:ea typeface="Lazydog"/>
                <a:cs typeface="Lazydog"/>
                <a:sym typeface="Lazydog"/>
              </a:rPr>
              <a:t>Motor de respuestas automáticas.</a:t>
            </a:r>
          </a:p>
          <a:p>
            <a:pPr algn="just" marL="461080" indent="-230540" lvl="1">
              <a:lnSpc>
                <a:spcPts val="2989"/>
              </a:lnSpc>
              <a:buFont typeface="Arial"/>
              <a:buChar char="•"/>
            </a:pPr>
            <a:r>
              <a:rPr lang="en-US" sz="2135">
                <a:solidFill>
                  <a:srgbClr val="AF805A"/>
                </a:solidFill>
                <a:latin typeface="Lazydog"/>
                <a:ea typeface="Lazydog"/>
                <a:cs typeface="Lazydog"/>
                <a:sym typeface="Lazydog"/>
              </a:rPr>
              <a:t>Base de datos de preguntas frecuentes.</a:t>
            </a:r>
          </a:p>
          <a:p>
            <a:pPr algn="just" marL="461080" indent="-230540" lvl="1">
              <a:lnSpc>
                <a:spcPts val="2989"/>
              </a:lnSpc>
              <a:buFont typeface="Arial"/>
              <a:buChar char="•"/>
            </a:pPr>
            <a:r>
              <a:rPr lang="en-US" sz="2135">
                <a:solidFill>
                  <a:srgbClr val="AF805A"/>
                </a:solidFill>
                <a:latin typeface="Lazydog"/>
                <a:ea typeface="Lazydog"/>
                <a:cs typeface="Lazydog"/>
                <a:sym typeface="Lazydog"/>
              </a:rPr>
              <a:t>Registro de conversaciones.</a:t>
            </a:r>
          </a:p>
          <a:p>
            <a:pPr algn="just" marL="461080" indent="-230540" lvl="1">
              <a:lnSpc>
                <a:spcPts val="2989"/>
              </a:lnSpc>
              <a:buFont typeface="Arial"/>
              <a:buChar char="•"/>
            </a:pPr>
            <a:r>
              <a:rPr lang="en-US" sz="2135">
                <a:solidFill>
                  <a:srgbClr val="AF805A"/>
                </a:solidFill>
                <a:latin typeface="Lazydog"/>
                <a:ea typeface="Lazydog"/>
                <a:cs typeface="Lazydog"/>
                <a:sym typeface="Lazydog"/>
              </a:rPr>
              <a:t>Escalamiento automático a personal municipal.</a:t>
            </a:r>
          </a:p>
          <a:p>
            <a:pPr algn="just">
              <a:lnSpc>
                <a:spcPts val="2989"/>
              </a:lnSpc>
            </a:pPr>
            <a:r>
              <a:rPr lang="en-US" sz="2135">
                <a:solidFill>
                  <a:srgbClr val="AF805A"/>
                </a:solidFill>
                <a:latin typeface="Lazydog"/>
                <a:ea typeface="Lazydog"/>
                <a:cs typeface="Lazydog"/>
                <a:sym typeface="Lazydog"/>
              </a:rPr>
              <a:t>2. Derivar a algún responsable</a:t>
            </a:r>
          </a:p>
          <a:p>
            <a:pPr algn="just" marL="461080" indent="-230540" lvl="1">
              <a:lnSpc>
                <a:spcPts val="2989"/>
              </a:lnSpc>
              <a:buFont typeface="Arial"/>
              <a:buChar char="•"/>
            </a:pPr>
            <a:r>
              <a:rPr lang="en-US" sz="2135">
                <a:solidFill>
                  <a:srgbClr val="AF805A"/>
                </a:solidFill>
                <a:latin typeface="Lazydog"/>
                <a:ea typeface="Lazydog"/>
                <a:cs typeface="Lazydog"/>
                <a:sym typeface="Lazydog"/>
              </a:rPr>
              <a:t>Sistema de tickets interno.</a:t>
            </a:r>
          </a:p>
          <a:p>
            <a:pPr algn="just" marL="461080" indent="-230540" lvl="1">
              <a:lnSpc>
                <a:spcPts val="2989"/>
              </a:lnSpc>
              <a:buFont typeface="Arial"/>
              <a:buChar char="•"/>
            </a:pPr>
            <a:r>
              <a:rPr lang="en-US" sz="2135">
                <a:solidFill>
                  <a:srgbClr val="AF805A"/>
                </a:solidFill>
                <a:latin typeface="Lazydog"/>
                <a:ea typeface="Lazydog"/>
                <a:cs typeface="Lazydog"/>
                <a:sym typeface="Lazydog"/>
              </a:rPr>
              <a:t>Asignación por área:</a:t>
            </a:r>
          </a:p>
          <a:p>
            <a:pPr algn="just" marL="922160" indent="-307387" lvl="2">
              <a:lnSpc>
                <a:spcPts val="2989"/>
              </a:lnSpc>
              <a:buFont typeface="Arial"/>
              <a:buChar char="⚬"/>
            </a:pPr>
            <a:r>
              <a:rPr lang="en-US" sz="2135">
                <a:solidFill>
                  <a:srgbClr val="AF805A"/>
                </a:solidFill>
                <a:latin typeface="Lazydog"/>
                <a:ea typeface="Lazydog"/>
                <a:cs typeface="Lazydog"/>
                <a:sym typeface="Lazydog"/>
              </a:rPr>
              <a:t>Rentas</a:t>
            </a:r>
          </a:p>
          <a:p>
            <a:pPr algn="just" marL="922160" indent="-307387" lvl="2">
              <a:lnSpc>
                <a:spcPts val="2989"/>
              </a:lnSpc>
              <a:buFont typeface="Arial"/>
              <a:buChar char="⚬"/>
            </a:pPr>
            <a:r>
              <a:rPr lang="en-US" sz="2135">
                <a:solidFill>
                  <a:srgbClr val="AF805A"/>
                </a:solidFill>
                <a:latin typeface="Lazydog"/>
                <a:ea typeface="Lazydog"/>
                <a:cs typeface="Lazydog"/>
                <a:sym typeface="Lazydog"/>
              </a:rPr>
              <a:t>Licencias</a:t>
            </a:r>
          </a:p>
          <a:p>
            <a:pPr algn="just" marL="922160" indent="-307387" lvl="2">
              <a:lnSpc>
                <a:spcPts val="2989"/>
              </a:lnSpc>
              <a:buFont typeface="Arial"/>
              <a:buChar char="⚬"/>
            </a:pPr>
            <a:r>
              <a:rPr lang="en-US" sz="2135">
                <a:solidFill>
                  <a:srgbClr val="AF805A"/>
                </a:solidFill>
                <a:latin typeface="Lazydog"/>
                <a:ea typeface="Lazydog"/>
                <a:cs typeface="Lazydog"/>
                <a:sym typeface="Lazydog"/>
              </a:rPr>
              <a:t>Obras</a:t>
            </a:r>
          </a:p>
          <a:p>
            <a:pPr algn="just" marL="922160" indent="-307387" lvl="2">
              <a:lnSpc>
                <a:spcPts val="2989"/>
              </a:lnSpc>
              <a:buFont typeface="Arial"/>
              <a:buChar char="⚬"/>
            </a:pPr>
            <a:r>
              <a:rPr lang="en-US" sz="2135">
                <a:solidFill>
                  <a:srgbClr val="AF805A"/>
                </a:solidFill>
                <a:latin typeface="Lazydog"/>
                <a:ea typeface="Lazydog"/>
                <a:cs typeface="Lazydog"/>
                <a:sym typeface="Lazydog"/>
              </a:rPr>
              <a:t>Fiscalización</a:t>
            </a:r>
          </a:p>
          <a:p>
            <a:pPr algn="just" marL="922160" indent="-307387" lvl="2">
              <a:lnSpc>
                <a:spcPts val="2989"/>
              </a:lnSpc>
              <a:buFont typeface="Arial"/>
              <a:buChar char="⚬"/>
            </a:pPr>
            <a:r>
              <a:rPr lang="en-US" sz="2135">
                <a:solidFill>
                  <a:srgbClr val="AF805A"/>
                </a:solidFill>
                <a:latin typeface="Lazydog"/>
                <a:ea typeface="Lazydog"/>
                <a:cs typeface="Lazydog"/>
                <a:sym typeface="Lazydog"/>
              </a:rPr>
              <a:t>Mesa de partes</a:t>
            </a:r>
          </a:p>
          <a:p>
            <a:pPr algn="just">
              <a:lnSpc>
                <a:spcPts val="2989"/>
              </a:lnSpc>
            </a:pPr>
            <a:r>
              <a:rPr lang="en-US" sz="2135">
                <a:solidFill>
                  <a:srgbClr val="AF805A"/>
                </a:solidFill>
                <a:latin typeface="Lazydog"/>
                <a:ea typeface="Lazydog"/>
                <a:cs typeface="Lazydog"/>
                <a:sym typeface="Lazydog"/>
              </a:rPr>
              <a:t>3. Gestión de números importantes</a:t>
            </a:r>
          </a:p>
          <a:p>
            <a:pPr algn="just" marL="461080" indent="-230540" lvl="1">
              <a:lnSpc>
                <a:spcPts val="2989"/>
              </a:lnSpc>
              <a:buFont typeface="Arial"/>
              <a:buChar char="•"/>
            </a:pPr>
            <a:r>
              <a:rPr lang="en-US" sz="2135">
                <a:solidFill>
                  <a:srgbClr val="AF805A"/>
                </a:solidFill>
                <a:latin typeface="Lazydog"/>
                <a:ea typeface="Lazydog"/>
                <a:cs typeface="Lazydog"/>
                <a:sym typeface="Lazydog"/>
              </a:rPr>
              <a:t>Panel administrador para editar teléfonos sin tocar código.</a:t>
            </a:r>
          </a:p>
          <a:p>
            <a:pPr algn="just">
              <a:lnSpc>
                <a:spcPts val="298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D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06543" y="-397854"/>
            <a:ext cx="4360578" cy="4114800"/>
          </a:xfrm>
          <a:custGeom>
            <a:avLst/>
            <a:gdLst/>
            <a:ahLst/>
            <a:cxnLst/>
            <a:rect r="r" b="b" t="t" l="l"/>
            <a:pathLst>
              <a:path h="4114800" w="4360578">
                <a:moveTo>
                  <a:pt x="0" y="0"/>
                </a:moveTo>
                <a:lnTo>
                  <a:pt x="4360578" y="0"/>
                </a:lnTo>
                <a:lnTo>
                  <a:pt x="43605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659925">
            <a:off x="14627618" y="-1060017"/>
            <a:ext cx="4745480" cy="4114800"/>
          </a:xfrm>
          <a:custGeom>
            <a:avLst/>
            <a:gdLst/>
            <a:ahLst/>
            <a:cxnLst/>
            <a:rect r="r" b="b" t="t" l="l"/>
            <a:pathLst>
              <a:path h="4114800" w="4745480">
                <a:moveTo>
                  <a:pt x="0" y="0"/>
                </a:moveTo>
                <a:lnTo>
                  <a:pt x="4745479" y="0"/>
                </a:lnTo>
                <a:lnTo>
                  <a:pt x="47454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400000">
            <a:off x="4316370" y="-2211614"/>
            <a:ext cx="9655259" cy="14710229"/>
          </a:xfrm>
          <a:custGeom>
            <a:avLst/>
            <a:gdLst/>
            <a:ahLst/>
            <a:cxnLst/>
            <a:rect r="r" b="b" t="t" l="l"/>
            <a:pathLst>
              <a:path h="14710229" w="9655259">
                <a:moveTo>
                  <a:pt x="9655260" y="0"/>
                </a:moveTo>
                <a:lnTo>
                  <a:pt x="0" y="0"/>
                </a:lnTo>
                <a:lnTo>
                  <a:pt x="0" y="14710228"/>
                </a:lnTo>
                <a:lnTo>
                  <a:pt x="9655260" y="14710228"/>
                </a:lnTo>
                <a:lnTo>
                  <a:pt x="965526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13874" y="6172200"/>
            <a:ext cx="3492436" cy="4114800"/>
          </a:xfrm>
          <a:custGeom>
            <a:avLst/>
            <a:gdLst/>
            <a:ahLst/>
            <a:cxnLst/>
            <a:rect r="r" b="b" t="t" l="l"/>
            <a:pathLst>
              <a:path h="4114800" w="3492436">
                <a:moveTo>
                  <a:pt x="0" y="0"/>
                </a:moveTo>
                <a:lnTo>
                  <a:pt x="3492436" y="0"/>
                </a:lnTo>
                <a:lnTo>
                  <a:pt x="349243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612816">
            <a:off x="-302998" y="6367592"/>
            <a:ext cx="1144663" cy="4114800"/>
          </a:xfrm>
          <a:custGeom>
            <a:avLst/>
            <a:gdLst/>
            <a:ahLst/>
            <a:cxnLst/>
            <a:rect r="r" b="b" t="t" l="l"/>
            <a:pathLst>
              <a:path h="4114800" w="1144663">
                <a:moveTo>
                  <a:pt x="0" y="0"/>
                </a:moveTo>
                <a:lnTo>
                  <a:pt x="1144663" y="0"/>
                </a:lnTo>
                <a:lnTo>
                  <a:pt x="114466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3474665" y="1028700"/>
            <a:ext cx="11338670" cy="8229600"/>
            <a:chOff x="0" y="0"/>
            <a:chExt cx="2899410" cy="21043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5036" y="-267"/>
              <a:ext cx="2899923" cy="2106424"/>
            </a:xfrm>
            <a:custGeom>
              <a:avLst/>
              <a:gdLst/>
              <a:ahLst/>
              <a:cxnLst/>
              <a:rect r="r" b="b" t="t" l="l"/>
              <a:pathLst>
                <a:path h="2106424" w="2899923">
                  <a:moveTo>
                    <a:pt x="2880564" y="799097"/>
                  </a:moveTo>
                  <a:cubicBezTo>
                    <a:pt x="2879294" y="623837"/>
                    <a:pt x="2869134" y="411747"/>
                    <a:pt x="2869134" y="221247"/>
                  </a:cubicBezTo>
                  <a:cubicBezTo>
                    <a:pt x="2869134" y="169177"/>
                    <a:pt x="2867864" y="65037"/>
                    <a:pt x="2861514" y="12967"/>
                  </a:cubicBezTo>
                  <a:cubicBezTo>
                    <a:pt x="2709114" y="12967"/>
                    <a:pt x="2545284" y="267"/>
                    <a:pt x="2391614" y="267"/>
                  </a:cubicBezTo>
                  <a:cubicBezTo>
                    <a:pt x="1592784" y="2807"/>
                    <a:pt x="801574" y="-1003"/>
                    <a:pt x="4014" y="267"/>
                  </a:cubicBezTo>
                  <a:cubicBezTo>
                    <a:pt x="4014" y="170447"/>
                    <a:pt x="-1066" y="359677"/>
                    <a:pt x="204" y="529857"/>
                  </a:cubicBezTo>
                  <a:cubicBezTo>
                    <a:pt x="2744" y="847357"/>
                    <a:pt x="6554" y="1166127"/>
                    <a:pt x="6554" y="1483627"/>
                  </a:cubicBezTo>
                  <a:cubicBezTo>
                    <a:pt x="6554" y="1637297"/>
                    <a:pt x="5284" y="1789697"/>
                    <a:pt x="12904" y="1943367"/>
                  </a:cubicBezTo>
                  <a:cubicBezTo>
                    <a:pt x="15444" y="1992897"/>
                    <a:pt x="17984" y="2041157"/>
                    <a:pt x="23064" y="2090687"/>
                  </a:cubicBezTo>
                  <a:cubicBezTo>
                    <a:pt x="190704" y="2093227"/>
                    <a:pt x="357074" y="2097037"/>
                    <a:pt x="524714" y="2102117"/>
                  </a:cubicBezTo>
                  <a:cubicBezTo>
                    <a:pt x="970484" y="2114817"/>
                    <a:pt x="1403554" y="2094497"/>
                    <a:pt x="1863294" y="2103387"/>
                  </a:cubicBezTo>
                  <a:cubicBezTo>
                    <a:pt x="2210004" y="2109737"/>
                    <a:pt x="2550364" y="2090687"/>
                    <a:pt x="2897074" y="2090687"/>
                  </a:cubicBezTo>
                  <a:cubicBezTo>
                    <a:pt x="2897074" y="2074177"/>
                    <a:pt x="2898344" y="1977657"/>
                    <a:pt x="2899614" y="1961147"/>
                  </a:cubicBezTo>
                  <a:cubicBezTo>
                    <a:pt x="2902154" y="1862087"/>
                    <a:pt x="2888184" y="1676667"/>
                    <a:pt x="2889454" y="1577607"/>
                  </a:cubicBezTo>
                  <a:cubicBezTo>
                    <a:pt x="2895804" y="1169937"/>
                    <a:pt x="2883104" y="1150887"/>
                    <a:pt x="2880564" y="799097"/>
                  </a:cubicBezTo>
                  <a:close/>
                </a:path>
              </a:pathLst>
            </a:custGeom>
            <a:blipFill>
              <a:blip r:embed="rId12"/>
              <a:stretch>
                <a:fillRect l="0" t="-77" r="0" b="-77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2259985" y="8577260"/>
            <a:ext cx="5550269" cy="1456946"/>
          </a:xfrm>
          <a:custGeom>
            <a:avLst/>
            <a:gdLst/>
            <a:ahLst/>
            <a:cxnLst/>
            <a:rect r="r" b="b" t="t" l="l"/>
            <a:pathLst>
              <a:path h="1456946" w="5550269">
                <a:moveTo>
                  <a:pt x="0" y="0"/>
                </a:moveTo>
                <a:lnTo>
                  <a:pt x="5550269" y="0"/>
                </a:lnTo>
                <a:lnTo>
                  <a:pt x="5550269" y="1456946"/>
                </a:lnTo>
                <a:lnTo>
                  <a:pt x="0" y="145694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-225826">
            <a:off x="12483523" y="9123856"/>
            <a:ext cx="5100068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FUENTE: https://www.municomas.gob.pe/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D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06543" y="-397854"/>
            <a:ext cx="4360578" cy="4114800"/>
          </a:xfrm>
          <a:custGeom>
            <a:avLst/>
            <a:gdLst/>
            <a:ahLst/>
            <a:cxnLst/>
            <a:rect r="r" b="b" t="t" l="l"/>
            <a:pathLst>
              <a:path h="4114800" w="4360578">
                <a:moveTo>
                  <a:pt x="0" y="0"/>
                </a:moveTo>
                <a:lnTo>
                  <a:pt x="4360578" y="0"/>
                </a:lnTo>
                <a:lnTo>
                  <a:pt x="43605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659925">
            <a:off x="14627618" y="-1060017"/>
            <a:ext cx="4745480" cy="4114800"/>
          </a:xfrm>
          <a:custGeom>
            <a:avLst/>
            <a:gdLst/>
            <a:ahLst/>
            <a:cxnLst/>
            <a:rect r="r" b="b" t="t" l="l"/>
            <a:pathLst>
              <a:path h="4114800" w="4745480">
                <a:moveTo>
                  <a:pt x="0" y="0"/>
                </a:moveTo>
                <a:lnTo>
                  <a:pt x="4745479" y="0"/>
                </a:lnTo>
                <a:lnTo>
                  <a:pt x="47454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400000">
            <a:off x="4316370" y="-2211614"/>
            <a:ext cx="9655259" cy="14710229"/>
          </a:xfrm>
          <a:custGeom>
            <a:avLst/>
            <a:gdLst/>
            <a:ahLst/>
            <a:cxnLst/>
            <a:rect r="r" b="b" t="t" l="l"/>
            <a:pathLst>
              <a:path h="14710229" w="9655259">
                <a:moveTo>
                  <a:pt x="9655260" y="0"/>
                </a:moveTo>
                <a:lnTo>
                  <a:pt x="0" y="0"/>
                </a:lnTo>
                <a:lnTo>
                  <a:pt x="0" y="14710228"/>
                </a:lnTo>
                <a:lnTo>
                  <a:pt x="9655260" y="14710228"/>
                </a:lnTo>
                <a:lnTo>
                  <a:pt x="965526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13874" y="6172200"/>
            <a:ext cx="3492436" cy="4114800"/>
          </a:xfrm>
          <a:custGeom>
            <a:avLst/>
            <a:gdLst/>
            <a:ahLst/>
            <a:cxnLst/>
            <a:rect r="r" b="b" t="t" l="l"/>
            <a:pathLst>
              <a:path h="4114800" w="3492436">
                <a:moveTo>
                  <a:pt x="0" y="0"/>
                </a:moveTo>
                <a:lnTo>
                  <a:pt x="3492436" y="0"/>
                </a:lnTo>
                <a:lnTo>
                  <a:pt x="349243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612816">
            <a:off x="-302998" y="6367592"/>
            <a:ext cx="1144663" cy="4114800"/>
          </a:xfrm>
          <a:custGeom>
            <a:avLst/>
            <a:gdLst/>
            <a:ahLst/>
            <a:cxnLst/>
            <a:rect r="r" b="b" t="t" l="l"/>
            <a:pathLst>
              <a:path h="4114800" w="1144663">
                <a:moveTo>
                  <a:pt x="0" y="0"/>
                </a:moveTo>
                <a:lnTo>
                  <a:pt x="1144663" y="0"/>
                </a:lnTo>
                <a:lnTo>
                  <a:pt x="114466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3474665" y="1028700"/>
            <a:ext cx="11338670" cy="8229600"/>
            <a:chOff x="0" y="0"/>
            <a:chExt cx="2899410" cy="21043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5036" y="-267"/>
              <a:ext cx="2899923" cy="2106424"/>
            </a:xfrm>
            <a:custGeom>
              <a:avLst/>
              <a:gdLst/>
              <a:ahLst/>
              <a:cxnLst/>
              <a:rect r="r" b="b" t="t" l="l"/>
              <a:pathLst>
                <a:path h="2106424" w="2899923">
                  <a:moveTo>
                    <a:pt x="2880564" y="799097"/>
                  </a:moveTo>
                  <a:cubicBezTo>
                    <a:pt x="2879294" y="623837"/>
                    <a:pt x="2869134" y="411747"/>
                    <a:pt x="2869134" y="221247"/>
                  </a:cubicBezTo>
                  <a:cubicBezTo>
                    <a:pt x="2869134" y="169177"/>
                    <a:pt x="2867864" y="65037"/>
                    <a:pt x="2861514" y="12967"/>
                  </a:cubicBezTo>
                  <a:cubicBezTo>
                    <a:pt x="2709114" y="12967"/>
                    <a:pt x="2545284" y="267"/>
                    <a:pt x="2391614" y="267"/>
                  </a:cubicBezTo>
                  <a:cubicBezTo>
                    <a:pt x="1592784" y="2807"/>
                    <a:pt x="801574" y="-1003"/>
                    <a:pt x="4014" y="267"/>
                  </a:cubicBezTo>
                  <a:cubicBezTo>
                    <a:pt x="4014" y="170447"/>
                    <a:pt x="-1066" y="359677"/>
                    <a:pt x="204" y="529857"/>
                  </a:cubicBezTo>
                  <a:cubicBezTo>
                    <a:pt x="2744" y="847357"/>
                    <a:pt x="6554" y="1166127"/>
                    <a:pt x="6554" y="1483627"/>
                  </a:cubicBezTo>
                  <a:cubicBezTo>
                    <a:pt x="6554" y="1637297"/>
                    <a:pt x="5284" y="1789697"/>
                    <a:pt x="12904" y="1943367"/>
                  </a:cubicBezTo>
                  <a:cubicBezTo>
                    <a:pt x="15444" y="1992897"/>
                    <a:pt x="17984" y="2041157"/>
                    <a:pt x="23064" y="2090687"/>
                  </a:cubicBezTo>
                  <a:cubicBezTo>
                    <a:pt x="190704" y="2093227"/>
                    <a:pt x="357074" y="2097037"/>
                    <a:pt x="524714" y="2102117"/>
                  </a:cubicBezTo>
                  <a:cubicBezTo>
                    <a:pt x="970484" y="2114817"/>
                    <a:pt x="1403554" y="2094497"/>
                    <a:pt x="1863294" y="2103387"/>
                  </a:cubicBezTo>
                  <a:cubicBezTo>
                    <a:pt x="2210004" y="2109737"/>
                    <a:pt x="2550364" y="2090687"/>
                    <a:pt x="2897074" y="2090687"/>
                  </a:cubicBezTo>
                  <a:cubicBezTo>
                    <a:pt x="2897074" y="2074177"/>
                    <a:pt x="2898344" y="1977657"/>
                    <a:pt x="2899614" y="1961147"/>
                  </a:cubicBezTo>
                  <a:cubicBezTo>
                    <a:pt x="2902154" y="1862087"/>
                    <a:pt x="2888184" y="1676667"/>
                    <a:pt x="2889454" y="1577607"/>
                  </a:cubicBezTo>
                  <a:cubicBezTo>
                    <a:pt x="2895804" y="1169937"/>
                    <a:pt x="2883104" y="1150887"/>
                    <a:pt x="2880564" y="799097"/>
                  </a:cubicBezTo>
                  <a:close/>
                </a:path>
              </a:pathLst>
            </a:custGeom>
            <a:blipFill>
              <a:blip r:embed="rId12"/>
              <a:stretch>
                <a:fillRect l="0" t="-23817" r="0" b="-23817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2259985" y="8577260"/>
            <a:ext cx="5550269" cy="1456946"/>
          </a:xfrm>
          <a:custGeom>
            <a:avLst/>
            <a:gdLst/>
            <a:ahLst/>
            <a:cxnLst/>
            <a:rect r="r" b="b" t="t" l="l"/>
            <a:pathLst>
              <a:path h="1456946" w="5550269">
                <a:moveTo>
                  <a:pt x="0" y="0"/>
                </a:moveTo>
                <a:lnTo>
                  <a:pt x="5550269" y="0"/>
                </a:lnTo>
                <a:lnTo>
                  <a:pt x="5550269" y="1456946"/>
                </a:lnTo>
                <a:lnTo>
                  <a:pt x="0" y="145694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-225826">
            <a:off x="12483523" y="9123856"/>
            <a:ext cx="5100068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FUENTE: https://www.municomas.gob.pe/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D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06543" y="-397854"/>
            <a:ext cx="4360578" cy="4114800"/>
          </a:xfrm>
          <a:custGeom>
            <a:avLst/>
            <a:gdLst/>
            <a:ahLst/>
            <a:cxnLst/>
            <a:rect r="r" b="b" t="t" l="l"/>
            <a:pathLst>
              <a:path h="4114800" w="4360578">
                <a:moveTo>
                  <a:pt x="0" y="0"/>
                </a:moveTo>
                <a:lnTo>
                  <a:pt x="4360578" y="0"/>
                </a:lnTo>
                <a:lnTo>
                  <a:pt x="43605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659925">
            <a:off x="14627618" y="-1060017"/>
            <a:ext cx="4745480" cy="4114800"/>
          </a:xfrm>
          <a:custGeom>
            <a:avLst/>
            <a:gdLst/>
            <a:ahLst/>
            <a:cxnLst/>
            <a:rect r="r" b="b" t="t" l="l"/>
            <a:pathLst>
              <a:path h="4114800" w="4745480">
                <a:moveTo>
                  <a:pt x="0" y="0"/>
                </a:moveTo>
                <a:lnTo>
                  <a:pt x="4745479" y="0"/>
                </a:lnTo>
                <a:lnTo>
                  <a:pt x="47454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400000">
            <a:off x="4316370" y="-2211614"/>
            <a:ext cx="9655259" cy="14710229"/>
          </a:xfrm>
          <a:custGeom>
            <a:avLst/>
            <a:gdLst/>
            <a:ahLst/>
            <a:cxnLst/>
            <a:rect r="r" b="b" t="t" l="l"/>
            <a:pathLst>
              <a:path h="14710229" w="9655259">
                <a:moveTo>
                  <a:pt x="9655260" y="0"/>
                </a:moveTo>
                <a:lnTo>
                  <a:pt x="0" y="0"/>
                </a:lnTo>
                <a:lnTo>
                  <a:pt x="0" y="14710228"/>
                </a:lnTo>
                <a:lnTo>
                  <a:pt x="9655260" y="14710228"/>
                </a:lnTo>
                <a:lnTo>
                  <a:pt x="965526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13874" y="6172200"/>
            <a:ext cx="3492436" cy="4114800"/>
          </a:xfrm>
          <a:custGeom>
            <a:avLst/>
            <a:gdLst/>
            <a:ahLst/>
            <a:cxnLst/>
            <a:rect r="r" b="b" t="t" l="l"/>
            <a:pathLst>
              <a:path h="4114800" w="3492436">
                <a:moveTo>
                  <a:pt x="0" y="0"/>
                </a:moveTo>
                <a:lnTo>
                  <a:pt x="3492436" y="0"/>
                </a:lnTo>
                <a:lnTo>
                  <a:pt x="349243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612816">
            <a:off x="-302998" y="6367592"/>
            <a:ext cx="1144663" cy="4114800"/>
          </a:xfrm>
          <a:custGeom>
            <a:avLst/>
            <a:gdLst/>
            <a:ahLst/>
            <a:cxnLst/>
            <a:rect r="r" b="b" t="t" l="l"/>
            <a:pathLst>
              <a:path h="4114800" w="1144663">
                <a:moveTo>
                  <a:pt x="0" y="0"/>
                </a:moveTo>
                <a:lnTo>
                  <a:pt x="1144663" y="0"/>
                </a:lnTo>
                <a:lnTo>
                  <a:pt x="114466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3474665" y="1028700"/>
            <a:ext cx="11338670" cy="8229600"/>
            <a:chOff x="0" y="0"/>
            <a:chExt cx="2899410" cy="21043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5036" y="-267"/>
              <a:ext cx="2899923" cy="2106424"/>
            </a:xfrm>
            <a:custGeom>
              <a:avLst/>
              <a:gdLst/>
              <a:ahLst/>
              <a:cxnLst/>
              <a:rect r="r" b="b" t="t" l="l"/>
              <a:pathLst>
                <a:path h="2106424" w="2899923">
                  <a:moveTo>
                    <a:pt x="2880564" y="799097"/>
                  </a:moveTo>
                  <a:cubicBezTo>
                    <a:pt x="2879294" y="623837"/>
                    <a:pt x="2869134" y="411747"/>
                    <a:pt x="2869134" y="221247"/>
                  </a:cubicBezTo>
                  <a:cubicBezTo>
                    <a:pt x="2869134" y="169177"/>
                    <a:pt x="2867864" y="65037"/>
                    <a:pt x="2861514" y="12967"/>
                  </a:cubicBezTo>
                  <a:cubicBezTo>
                    <a:pt x="2709114" y="12967"/>
                    <a:pt x="2545284" y="267"/>
                    <a:pt x="2391614" y="267"/>
                  </a:cubicBezTo>
                  <a:cubicBezTo>
                    <a:pt x="1592784" y="2807"/>
                    <a:pt x="801574" y="-1003"/>
                    <a:pt x="4014" y="267"/>
                  </a:cubicBezTo>
                  <a:cubicBezTo>
                    <a:pt x="4014" y="170447"/>
                    <a:pt x="-1066" y="359677"/>
                    <a:pt x="204" y="529857"/>
                  </a:cubicBezTo>
                  <a:cubicBezTo>
                    <a:pt x="2744" y="847357"/>
                    <a:pt x="6554" y="1166127"/>
                    <a:pt x="6554" y="1483627"/>
                  </a:cubicBezTo>
                  <a:cubicBezTo>
                    <a:pt x="6554" y="1637297"/>
                    <a:pt x="5284" y="1789697"/>
                    <a:pt x="12904" y="1943367"/>
                  </a:cubicBezTo>
                  <a:cubicBezTo>
                    <a:pt x="15444" y="1992897"/>
                    <a:pt x="17984" y="2041157"/>
                    <a:pt x="23064" y="2090687"/>
                  </a:cubicBezTo>
                  <a:cubicBezTo>
                    <a:pt x="190704" y="2093227"/>
                    <a:pt x="357074" y="2097037"/>
                    <a:pt x="524714" y="2102117"/>
                  </a:cubicBezTo>
                  <a:cubicBezTo>
                    <a:pt x="970484" y="2114817"/>
                    <a:pt x="1403554" y="2094497"/>
                    <a:pt x="1863294" y="2103387"/>
                  </a:cubicBezTo>
                  <a:cubicBezTo>
                    <a:pt x="2210004" y="2109737"/>
                    <a:pt x="2550364" y="2090687"/>
                    <a:pt x="2897074" y="2090687"/>
                  </a:cubicBezTo>
                  <a:cubicBezTo>
                    <a:pt x="2897074" y="2074177"/>
                    <a:pt x="2898344" y="1977657"/>
                    <a:pt x="2899614" y="1961147"/>
                  </a:cubicBezTo>
                  <a:cubicBezTo>
                    <a:pt x="2902154" y="1862087"/>
                    <a:pt x="2888184" y="1676667"/>
                    <a:pt x="2889454" y="1577607"/>
                  </a:cubicBezTo>
                  <a:cubicBezTo>
                    <a:pt x="2895804" y="1169937"/>
                    <a:pt x="2883104" y="1150887"/>
                    <a:pt x="2880564" y="799097"/>
                  </a:cubicBezTo>
                  <a:close/>
                </a:path>
              </a:pathLst>
            </a:custGeom>
            <a:blipFill>
              <a:blip r:embed="rId12"/>
              <a:stretch>
                <a:fillRect l="0" t="-45937" r="0" b="-45937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2259985" y="8577260"/>
            <a:ext cx="5550269" cy="1456946"/>
          </a:xfrm>
          <a:custGeom>
            <a:avLst/>
            <a:gdLst/>
            <a:ahLst/>
            <a:cxnLst/>
            <a:rect r="r" b="b" t="t" l="l"/>
            <a:pathLst>
              <a:path h="1456946" w="5550269">
                <a:moveTo>
                  <a:pt x="0" y="0"/>
                </a:moveTo>
                <a:lnTo>
                  <a:pt x="5550269" y="0"/>
                </a:lnTo>
                <a:lnTo>
                  <a:pt x="5550269" y="1456946"/>
                </a:lnTo>
                <a:lnTo>
                  <a:pt x="0" y="145694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-225826">
            <a:off x="12483523" y="9123856"/>
            <a:ext cx="5100068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FUENTE: https://www.municomas.gob.pe/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D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06543" y="-397854"/>
            <a:ext cx="4360578" cy="4114800"/>
          </a:xfrm>
          <a:custGeom>
            <a:avLst/>
            <a:gdLst/>
            <a:ahLst/>
            <a:cxnLst/>
            <a:rect r="r" b="b" t="t" l="l"/>
            <a:pathLst>
              <a:path h="4114800" w="4360578">
                <a:moveTo>
                  <a:pt x="0" y="0"/>
                </a:moveTo>
                <a:lnTo>
                  <a:pt x="4360578" y="0"/>
                </a:lnTo>
                <a:lnTo>
                  <a:pt x="43605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659925">
            <a:off x="14627618" y="-1060017"/>
            <a:ext cx="4745480" cy="4114800"/>
          </a:xfrm>
          <a:custGeom>
            <a:avLst/>
            <a:gdLst/>
            <a:ahLst/>
            <a:cxnLst/>
            <a:rect r="r" b="b" t="t" l="l"/>
            <a:pathLst>
              <a:path h="4114800" w="4745480">
                <a:moveTo>
                  <a:pt x="0" y="0"/>
                </a:moveTo>
                <a:lnTo>
                  <a:pt x="4745479" y="0"/>
                </a:lnTo>
                <a:lnTo>
                  <a:pt x="47454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400000">
            <a:off x="4316370" y="-2211614"/>
            <a:ext cx="9655259" cy="14710229"/>
          </a:xfrm>
          <a:custGeom>
            <a:avLst/>
            <a:gdLst/>
            <a:ahLst/>
            <a:cxnLst/>
            <a:rect r="r" b="b" t="t" l="l"/>
            <a:pathLst>
              <a:path h="14710229" w="9655259">
                <a:moveTo>
                  <a:pt x="9655260" y="0"/>
                </a:moveTo>
                <a:lnTo>
                  <a:pt x="0" y="0"/>
                </a:lnTo>
                <a:lnTo>
                  <a:pt x="0" y="14710228"/>
                </a:lnTo>
                <a:lnTo>
                  <a:pt x="9655260" y="14710228"/>
                </a:lnTo>
                <a:lnTo>
                  <a:pt x="965526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050564" y="2503766"/>
            <a:ext cx="1264466" cy="1403014"/>
          </a:xfrm>
          <a:custGeom>
            <a:avLst/>
            <a:gdLst/>
            <a:ahLst/>
            <a:cxnLst/>
            <a:rect r="r" b="b" t="t" l="l"/>
            <a:pathLst>
              <a:path h="1403014" w="1264466">
                <a:moveTo>
                  <a:pt x="0" y="0"/>
                </a:moveTo>
                <a:lnTo>
                  <a:pt x="1264467" y="0"/>
                </a:lnTo>
                <a:lnTo>
                  <a:pt x="1264467" y="1403014"/>
                </a:lnTo>
                <a:lnTo>
                  <a:pt x="0" y="14030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3612582" y="5637986"/>
            <a:ext cx="1264466" cy="1403014"/>
          </a:xfrm>
          <a:custGeom>
            <a:avLst/>
            <a:gdLst/>
            <a:ahLst/>
            <a:cxnLst/>
            <a:rect r="r" b="b" t="t" l="l"/>
            <a:pathLst>
              <a:path h="1403014" w="1264466">
                <a:moveTo>
                  <a:pt x="0" y="0"/>
                </a:moveTo>
                <a:lnTo>
                  <a:pt x="1264467" y="0"/>
                </a:lnTo>
                <a:lnTo>
                  <a:pt x="1264467" y="1403014"/>
                </a:lnTo>
                <a:lnTo>
                  <a:pt x="0" y="14030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813874" y="6172200"/>
            <a:ext cx="3492436" cy="4114800"/>
          </a:xfrm>
          <a:custGeom>
            <a:avLst/>
            <a:gdLst/>
            <a:ahLst/>
            <a:cxnLst/>
            <a:rect r="r" b="b" t="t" l="l"/>
            <a:pathLst>
              <a:path h="4114800" w="3492436">
                <a:moveTo>
                  <a:pt x="0" y="0"/>
                </a:moveTo>
                <a:lnTo>
                  <a:pt x="3492436" y="0"/>
                </a:lnTo>
                <a:lnTo>
                  <a:pt x="349243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612816">
            <a:off x="-302998" y="6367592"/>
            <a:ext cx="1144663" cy="4114800"/>
          </a:xfrm>
          <a:custGeom>
            <a:avLst/>
            <a:gdLst/>
            <a:ahLst/>
            <a:cxnLst/>
            <a:rect r="r" b="b" t="t" l="l"/>
            <a:pathLst>
              <a:path h="4114800" w="1144663">
                <a:moveTo>
                  <a:pt x="0" y="0"/>
                </a:moveTo>
                <a:lnTo>
                  <a:pt x="1144663" y="0"/>
                </a:lnTo>
                <a:lnTo>
                  <a:pt x="114466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143062" y="3059181"/>
            <a:ext cx="12529835" cy="3443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02"/>
              </a:lnSpc>
            </a:pPr>
            <a:r>
              <a:rPr lang="en-US" sz="12431">
                <a:solidFill>
                  <a:srgbClr val="AF805A"/>
                </a:solidFill>
                <a:latin typeface="Lazydog"/>
                <a:ea typeface="Lazydog"/>
                <a:cs typeface="Lazydog"/>
                <a:sym typeface="Lazydog"/>
              </a:rPr>
              <a:t>¡Muchas Gracias!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499121" y="6746178"/>
            <a:ext cx="9334934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2A1B1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Atentamente: Equipo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DAHHozAxB_k</dc:identifier>
  <dcterms:modified xsi:type="dcterms:W3CDTF">2011-08-01T06:04:30Z</dcterms:modified>
  <cp:revision>1</cp:revision>
  <dc:title>Proyecto de mejora de la pagina municomas_Grupo6_4716</dc:title>
</cp:coreProperties>
</file>